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MODELOS DE SIMULACIÓN PARA
STRESS TESTING PROSPECTIVO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D8F0"/>
                </a:solidFill>
              </a:rPr>
              <a:t>Evaluación comparativa de alternativas al GBM
y calibración dinámica de pesos de volatilidad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</a:rPr>
              <a:t>Riesgo de Mercado  ·  Gerencia de Riesgos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Limitaciones del GBM como modelo de referencia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134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Los cuatro modelos candidatos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192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Metodología de comparación: Torneo de modelos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251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Métricas de evaluación y resultados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30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¿Por qué la calibración dinámica de pesos?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23444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80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Cómo funciona el sistema de pesos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4028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3134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Métodos de calibración: Min-Max vs Percentil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24612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192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Proceso paso a paso y comparativa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51960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297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3251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Limitaciones del 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¿Por qué buscar alternativas?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1005840"/>
          </a:xfrm>
          <a:prstGeom prst="rect">
            <a:avLst/>
          </a:prstGeom>
          <a:solidFill>
            <a:srgbClr val="C8D8F0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Modelo actual:   dS = μ·S·dt  +  σ·S·dW      →      S_T = S_0 · exp[(μ − σ²/2)·T  +  σ·√T·Z]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E5F9E"/>
                </a:solidFill>
              </a:rPr>
              <a:t>con  Z ~ N(0,1)  independiente e idénticamente distribuido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76072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A"/>
                </a:solidFill>
              </a:rPr>
              <a:t>✗  Cola delgada (Normal)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Los retornos financieros tienen exceso de curtosis (fat tails).
GBM subestima la probabilidad de eventos extremos en horizontes de 20 días.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331720"/>
            <a:ext cx="576072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A"/>
                </a:solidFill>
              </a:rPr>
              <a:t>✗  Sin memoria de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770632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Volatilidad constante σ: el modelo no recuerda períodos de estrés.
En mercados en crisis, la volatilidad es agrupada (clustering), no plana.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97679"/>
            <a:ext cx="576072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3891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A"/>
                </a:solidFill>
              </a:rPr>
              <a:t>✗  Sin saltos discretos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36592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Defaults, decisiones de política, crisis geopolíticas generan saltos
bruscos que GBM no puede capturar (movimiento continuo).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297679"/>
            <a:ext cx="576072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A"/>
                </a:solidFill>
              </a:rPr>
              <a:t>✗  Brecha Stress &lt; 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736592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La reducción ad-hoc del 10% en σ (σ×0.90) crea una subestimación
sistemática. En pruebas: Stress = −88.5B vs VaR = −113.4B.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Los Cuatro Modelos Candidatos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Características clave de cada alternativa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834640" cy="64008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GBM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64792"/>
            <a:ext cx="2834640" cy="34747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013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E5F9E"/>
                </a:solidFill>
              </a:rPr>
              <a:t>Baseline actual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93976"/>
            <a:ext cx="2834640" cy="4206240"/>
          </a:xfrm>
          <a:prstGeom prst="rect">
            <a:avLst/>
          </a:prstGeom>
          <a:solidFill>
            <a:srgbClr val="C8D8F0"/>
          </a:solidFill>
          <a:ln w="1016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762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Movimiento Browniano Geométrico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163824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μ y σ constantes (histórico 250d)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151376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Reducción ad-hoc: σ × 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38928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Retornos log-normales independientes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143000"/>
            <a:ext cx="2834640" cy="64008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1704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JD
(Merton)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2968" y="1764792"/>
            <a:ext cx="2834640" cy="34747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8013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7E4A"/>
                </a:solidFill>
              </a:rPr>
              <a:t>Jump-Diffusion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2968" y="2093976"/>
            <a:ext cx="2834640" cy="4206240"/>
          </a:xfrm>
          <a:prstGeom prst="rect">
            <a:avLst/>
          </a:prstGeom>
          <a:solidFill>
            <a:srgbClr val="D5EEDF"/>
          </a:solidFill>
          <a:ln w="1016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21762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GBM + componente de saltos Poisson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163824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Calibra umbral: |r| &gt; 2.5σ → salto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151376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λ = frecuencia histórica de saltos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38928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Corrección de drift: k_bar = e^(μⱼ+σⱼ²/2)−1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1143000"/>
            <a:ext cx="2834640" cy="640080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1704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ARMA
(1,1)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1764792"/>
            <a:ext cx="2834640" cy="34747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8013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07B10"/>
                </a:solidFill>
              </a:rPr>
              <a:t>AutoRegresivo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2093976"/>
            <a:ext cx="2834640" cy="4206240"/>
          </a:xfrm>
          <a:prstGeom prst="rect">
            <a:avLst/>
          </a:prstGeom>
          <a:solidFill>
            <a:srgbClr val="FBEAD0"/>
          </a:solidFill>
          <a:ln w="1016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1762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r_t = c + φ·r_{t-1} + θ·ε_{t-1} + ε_t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3163824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Captura autocorrelación en retornos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4151376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Calibrado por máx. verosimilitud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138928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Memoria de corto plazo (1 día)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1143000"/>
            <a:ext cx="2834640" cy="6400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11704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ARMA-
GARCH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1764792"/>
            <a:ext cx="2834640" cy="34747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4584" y="18013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B2FBE"/>
                </a:solidFill>
              </a:rPr>
              <a:t>Volatilidad Condicional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3144" y="2093976"/>
            <a:ext cx="2834640" cy="4206240"/>
          </a:xfrm>
          <a:prstGeom prst="rect">
            <a:avLst/>
          </a:prstGeom>
          <a:solidFill>
            <a:srgbClr val="E8D8F5"/>
          </a:solidFill>
          <a:ln w="101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21762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ARMA(1,1) + GARCH(1,1) en varianza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3163824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h_t = ω + α·ε²_{t-1} + β·h_{t-1}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4151376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Volatility clustering explícito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5138928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 Colas más pesadas que GBM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GBM vs Jump-Diffusion de Merton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Cómo JD extiende el modelo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94960"/>
          </a:xfrm>
          <a:prstGeom prst="rect">
            <a:avLst/>
          </a:prstGeom>
          <a:solidFill>
            <a:srgbClr val="C8D8F0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GBM 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Ecuación: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ln(S_T/S_0) = (μ − σ²/2)·T + σ·√T·Z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768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9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Calibración: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μ = media retornos históricos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σ = desv. estándar × 0.90 × peso_factor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472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398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Supuestos: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32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Retornos i.i.d. normales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251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Volatilidad constante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Sin discontinuidades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0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029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Limitación clave: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95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Subestima colas; no captura crisis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143000"/>
            <a:ext cx="5943600" cy="5394960"/>
          </a:xfrm>
          <a:prstGeom prst="rect">
            <a:avLst/>
          </a:prstGeom>
          <a:solidFill>
            <a:srgbClr val="D5EED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7E4A"/>
                </a:solidFill>
              </a:rPr>
              <a:t>Jump-Diffusion  (Merton 1976)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691640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Ecuación: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98424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ln(S_T/S_0) = (μ_d − σ_d²/2 − λ·k̄)·T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276856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             + σ_d·W_T  +  Σ Jᵢ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569464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86207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Calibración automática: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154680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|r| &gt; 2.5σ_total  →  retorno = salto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44728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λ = #saltos / N_días históricos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39896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μⱼ, σⱼ = media y std de saltos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032504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k̄ = e^(μⱼ + σⱼ²/2) − 1  (drift Merton)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2511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617720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Componentes separados: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91032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Difusión gaussiana (días normales)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202936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· Saltos Poisson (días extremos)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495544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78815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Ventaja: captura colas pesadas y crisis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6080760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Fallback: si &lt;3 saltos → usa GBM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3383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5E"/>
                </a:solidFill>
              </a:rPr>
              <a:t>EXTIENDE
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ARMA(1,1) y ARMA-GARCH(1,1)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Modelos de series de tiempo para retornos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94960"/>
          </a:xfrm>
          <a:prstGeom prst="rect">
            <a:avLst/>
          </a:prstGeom>
          <a:solidFill>
            <a:srgbClr val="FBEAD0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10"/>
                </a:solidFill>
              </a:rPr>
              <a:t>ARMA(1,1)  —  Memoria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Ecuación de media: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13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r_t = c + φ·r_{t-1} + θ·ε_{t-1} + ε_t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ε_t ~ N(0, σ²_ε)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008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Calibración: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403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φ, θ, c, σ_ε via máx. verosimilitud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(statsmodels.ARIMA orden (1,0,1))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798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9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Simulación hacia adelante: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93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Inicializa con r_{T} y ε_{T} observados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Itera H = 20 pasos día a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588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28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Ventaja: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983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Autocorrelación de retornos (momentum)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Más suave que GBM puro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378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07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Limitación: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773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Varianza constante (no captura clustering)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143000"/>
            <a:ext cx="5943600" cy="5394960"/>
          </a:xfrm>
          <a:prstGeom prst="rect">
            <a:avLst/>
          </a:prstGeom>
          <a:solidFill>
            <a:srgbClr val="E8D8F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BE"/>
                </a:solidFill>
              </a:rPr>
              <a:t>ARMA-GARCH(1,1)  —  Volatilidad dinámica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69164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Ecuación de media (AR):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96138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r_t = c + φ·r_{t-1} + ε_t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23113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50088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Ecuación de varianza (GARCH):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77063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h_t = ω + α·ε²_{t-1} + β·h_{t-1}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04038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ε_t = σ_t · z_t ,   z_t ~ N(0,1)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31012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σ_t = √h_t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57987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84962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Calibración: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11937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ω, α, β via máx. verosimilitud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38912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(paquete arch, AR(1) + GARCH(1,1))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65886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92861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Restricción estacionariedad: α + β &lt;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19836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46811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04040"/>
                </a:solidFill>
              </a:rPr>
              <a:t>Ventaja: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73786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Volatility clustering explícito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600760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Colas pesadas implícitas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627735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  Más realista en períodos de crisis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Metodología: Torneo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Comparación objetiva bajo la misma semilla aleatoria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48840" cy="82296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Distribución
Empírica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39112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Retornos log a 20d
ventanas solapadas
stride = 5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54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5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234440"/>
            <a:ext cx="2148840" cy="82296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618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Calibrar
cada modelo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039112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0312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GBM, JD, ARMA,
ARMA-GARCH
sobre histórico 250d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54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5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34440"/>
            <a:ext cx="2148840" cy="822960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2618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Simular
1,000 trayect.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039112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0312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Misma semilla
para todos los
modelos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554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5E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34440"/>
            <a:ext cx="2148840" cy="8229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2618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 Métricas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039112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10312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KS, P05, P95
Vol, Curtosis
(menor = mejor)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554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5E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234440"/>
            <a:ext cx="2148840" cy="822960"/>
          </a:xfrm>
          <a:prstGeom prst="rect">
            <a:avLst/>
          </a:prstGeom>
          <a:solidFill>
            <a:srgbClr val="C0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2618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Composite
Rank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039112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10312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Promedio de
rangos 1-4
Ganador: mín 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74720"/>
            <a:ext cx="11612880" cy="914400"/>
          </a:xfrm>
          <a:prstGeom prst="rect">
            <a:avLst/>
          </a:prstGeom>
          <a:solidFill>
            <a:srgbClr val="C8D8F0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38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75E"/>
                </a:solidFill>
              </a:rPr>
              <a:t>Garantía de comparación justa:  La MISMA semilla aleatoria se usa para todos los modelos en cada factor.
Esto asegura que las diferencias de resultado reflejan el modelo, no la aleatoriedad del muestreo.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Factores evaluados en el torneo real: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8348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F9E"/>
                </a:solidFill>
              </a:rPr>
              <a:t>FX (5)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3949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USDCOP, USDCLP, EURUSD, GBPUSD, USDBRL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498348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E4A"/>
                </a:solidFill>
              </a:rPr>
              <a:t>RV Local (3)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53949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ECOPETROL, ICOLCAP, PFAVAL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98348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10"/>
                </a:solidFill>
              </a:rPr>
              <a:t>RV Internacional (2)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53949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SPY, XLF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Las 5 Métricas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¿Qué mide cada indicador? (menor = mejor)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79476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KS 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37947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7830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9E"/>
                </a:solidFill>
              </a:rPr>
              <a:t>Distancia Kolmogorov-Smirnov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12140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Máxima diferencia absoluta entre las FDAs
simulada y empírica. Evalúa la forma
completa de la distribución.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3566160" cy="411480"/>
          </a:xfrm>
          <a:prstGeom prst="rect">
            <a:avLst/>
          </a:prstGeom>
          <a:solidFill>
            <a:srgbClr val="F0F0F8"/>
          </a:solidFill>
          <a:ln w="635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375E"/>
                </a:solidFill>
              </a:rPr>
              <a:t>KS = sup_x |F_sim(x) − F_emp(x)|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234440"/>
            <a:ext cx="3794760" cy="502920"/>
          </a:xfrm>
          <a:prstGeom prst="rect">
            <a:avLst/>
          </a:prstGeom>
          <a:solidFill>
            <a:srgbClr val="C0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29844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P05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737360"/>
            <a:ext cx="37947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7830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A"/>
                </a:solidFill>
              </a:rPr>
              <a:t>Error en la cola izquierda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12140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Error relativo en el percentil 5:
qué tan bien captura el modelo los
peores escenarios (pérdidas extremas).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3044952"/>
            <a:ext cx="3566160" cy="411480"/>
          </a:xfrm>
          <a:prstGeom prst="rect">
            <a:avLst/>
          </a:prstGeom>
          <a:solidFill>
            <a:srgbClr val="F0F0F8"/>
          </a:solidFill>
          <a:ln w="635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375E"/>
                </a:solidFill>
              </a:rPr>
              <a:t>|P5_sim − P5_emp| / |P5_emp|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234440"/>
            <a:ext cx="3794760" cy="502920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29844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P95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737360"/>
            <a:ext cx="37947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17830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10"/>
                </a:solidFill>
              </a:rPr>
              <a:t>Error en la cola derecha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212140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Error relativo en el percentil 95:
escenarios de ganancia extrema.
Simetría del riesgo de cola.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11896" y="3044952"/>
            <a:ext cx="3566160" cy="411480"/>
          </a:xfrm>
          <a:prstGeom prst="rect">
            <a:avLst/>
          </a:prstGeom>
          <a:solidFill>
            <a:srgbClr val="F0F0F8"/>
          </a:solidFill>
          <a:ln w="635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375E"/>
                </a:solidFill>
              </a:rPr>
              <a:t>|P95_sim − P95_emp| / |P95_emp|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3794760" cy="50292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90448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Volatilidad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343400"/>
            <a:ext cx="37947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389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Error en la desviación estándar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472744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Qué tanto difiere la σ de los retornos
simulados a 20d vs la σ empírica.
Cero = calibración perfecta de riesgo.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650992"/>
            <a:ext cx="3566160" cy="411480"/>
          </a:xfrm>
          <a:prstGeom prst="rect">
            <a:avLst/>
          </a:prstGeom>
          <a:solidFill>
            <a:srgbClr val="F0F0F8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696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375E"/>
                </a:solidFill>
              </a:rPr>
              <a:t>|σ_sim − σ_emp| / σ_emp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3840480"/>
            <a:ext cx="379476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8" y="390448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Curtosis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4343400"/>
            <a:ext cx="37947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4389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Error en fat-tails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6" y="472744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Diferencia normalizada de curtosis:
cero = misma intensidad de colas
pesadas que el histórico real.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5650992"/>
            <a:ext cx="3566160" cy="411480"/>
          </a:xfrm>
          <a:prstGeom prst="rect">
            <a:avLst/>
          </a:prstGeom>
          <a:solidFill>
            <a:srgbClr val="F0F0F8"/>
          </a:solidFill>
          <a:ln w="63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7408" y="5696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375E"/>
                </a:solidFill>
              </a:rPr>
              <a:t>|κ_sim − κ_emp| / (1 + |κ_emp|)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Resultados: ¿Qué modelo gana?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Tendencia general observada por categoría de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Resultados típicos observados al correr el torneo sobre datos reales de mercado colombiano: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27632"/>
            <a:ext cx="1175004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69164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169164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Ganador típico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9164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2do lugar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9164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 qué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039112"/>
            <a:ext cx="11750040" cy="11247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11226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FX (USDCOP,
USDCLP, BRL)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79191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5F9E"/>
                </a:solidFill>
              </a:rPr>
              <a:t>Alta vol.
y saltos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221992"/>
            <a:ext cx="2103120" cy="548640"/>
          </a:xfrm>
          <a:prstGeom prst="rect">
            <a:avLst/>
          </a:prstGeom>
          <a:solidFill>
            <a:srgbClr val="D5EEDF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267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🥇 JD (Merton)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267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5F9E"/>
                </a:solidFill>
              </a:rPr>
              <a:t>🥈 ARMA-GARCH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13055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Las divisas EM muestran saltos bruscos (bancos centrales,
chock commodity). JD captura λ alta y μⱼ negativo.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191256"/>
            <a:ext cx="11750040" cy="1124712"/>
          </a:xfrm>
          <a:prstGeom prst="rect">
            <a:avLst/>
          </a:prstGeom>
          <a:solidFill>
            <a:srgbClr val="F0F2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2644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FX (EURUSD,
GBPUSD)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83133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5F9E"/>
                </a:solidFill>
              </a:rPr>
              <a:t>Baja vol.
mercado DM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374136"/>
            <a:ext cx="2103120" cy="548640"/>
          </a:xfrm>
          <a:prstGeom prst="rect">
            <a:avLst/>
          </a:prstGeom>
          <a:solidFill>
            <a:srgbClr val="D5EEDF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4198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🥇 ARMA-GARCH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4198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5F9E"/>
                </a:solidFill>
              </a:rPr>
              <a:t>🥈 JD (Merton)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282696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Volatility clustering pronunciado. GARCH adapta σ
a regímenes de baja/alta vol sin overshooting.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343400"/>
            <a:ext cx="11750040" cy="11247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41655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RV Local
(ECOPETROL,
ICOLCAP)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5F9E"/>
                </a:solidFill>
              </a:rPr>
              <a:t>Cola
izquierda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526280"/>
            <a:ext cx="2103120" cy="548640"/>
          </a:xfrm>
          <a:prstGeom prst="rect">
            <a:avLst/>
          </a:prstGeom>
          <a:solidFill>
            <a:srgbClr val="D5EEDF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🥇 JD (Merton)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5F9E"/>
                </a:solidFill>
              </a:rPr>
              <a:t>🥈 ARMA-GARCH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434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RV colombiana: alta curtosis, saltos negativos
correlacionados con precio del petróleo.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495544"/>
            <a:ext cx="11750040" cy="1124712"/>
          </a:xfrm>
          <a:prstGeom prst="rect">
            <a:avLst/>
          </a:prstGeom>
          <a:solidFill>
            <a:srgbClr val="F0F2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568696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RV Internac.
(SPY, XLF)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13562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5F9E"/>
                </a:solidFill>
              </a:rPr>
              <a:t>Crash
asimétrico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678424"/>
            <a:ext cx="2103120" cy="548640"/>
          </a:xfrm>
          <a:prstGeom prst="rect">
            <a:avLst/>
          </a:prstGeom>
          <a:solidFill>
            <a:srgbClr val="D5EEDF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57241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🥇 ARMA-GARCH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57241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5F9E"/>
                </a:solidFill>
              </a:rPr>
              <a:t>🥈 JD (Merton)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86983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Caídas rápidas + rebotes (clustering). GARCH
captura asimetría implícita mejor que Poisson.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6281928"/>
            <a:ext cx="1175004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309360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Conclusión:  JD gana en FX/RV de mercados emergentes; ARMA-GARCH en mercados desarrollados. GBM queda en 3° o 4° lugar consistentemente.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¿Por qué la Calibración Dinámica de Pesos?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El problema de la brecha entre Stress y 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El problema detectado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457200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VaR histórico (referencia)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02A"/>
                </a:solidFill>
              </a:rPr>
              <a:t>−113.4 B COP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457200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077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Stress prospectivo 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186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10"/>
                </a:solidFill>
              </a:rPr>
              <a:t>−88.5 B COP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457200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Brecha (subestimación)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02A"/>
                </a:solidFill>
              </a:rPr>
              <a:t>−24.9 B COP  (−22%)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Con σ × 0.90 fijo, el stress siempre
queda por debajo del VaR → el modelo
no es conservador para todos los factores.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188720"/>
            <a:ext cx="63093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2618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7E4A"/>
                </a:solidFill>
              </a:rPr>
              <a:t>¿Por qué ocurre la brecha?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828800"/>
            <a:ext cx="5943600" cy="914400"/>
          </a:xfrm>
          <a:prstGeom prst="rect">
            <a:avLst/>
          </a:prstGeom>
          <a:solidFill>
            <a:srgbClr val="F0F2F5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9019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1. Reducción uniforme de 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2494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El −10% se aplica igual a USDCOP que
a GBPUSD. No diferencia por factor.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926080"/>
            <a:ext cx="5943600" cy="914400"/>
          </a:xfrm>
          <a:prstGeom prst="rect">
            <a:avLst/>
          </a:prstGeom>
          <a:solidFill>
            <a:srgbClr val="F0F2F5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2. Correlaciones estresadas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34670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En crisis los activos se correlacionan
más. σ estática no lo refleja.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023360"/>
            <a:ext cx="5943600" cy="914400"/>
          </a:xfrm>
          <a:prstGeom prst="rect">
            <a:avLst/>
          </a:prstGeom>
          <a:solidFill>
            <a:srgbClr val="F0F2F5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40965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3. Factores sub-representados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44398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BAAA2, BAAA3, COUSD y CECUVR tienen
pesos bajos; su VaR queda sin cubrir.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120640"/>
            <a:ext cx="5943600" cy="914400"/>
          </a:xfrm>
          <a:prstGeom prst="rect">
            <a:avLst/>
          </a:prstGeom>
          <a:solidFill>
            <a:srgbClr val="F0F2F5"/>
          </a:solidFill>
          <a:ln w="635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51937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E4A"/>
                </a:solidFill>
              </a:rPr>
              <a:t>4. Actualización 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54126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El analista ajustaba pesos ad-hoc
cada mes sin criterio sistemático.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 Sistema de Pesos: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JSON de configuración + aplicación en tiempo de simulación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peso_factor  actúa como multiplicador de volatilidad en cada modelo: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2834640" cy="6858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GBM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2834640" cy="457200"/>
          </a:xfrm>
          <a:prstGeom prst="rect">
            <a:avLst/>
          </a:prstGeom>
          <a:solidFill>
            <a:srgbClr val="C8D8F0"/>
          </a:solidFill>
          <a:ln w="635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5E"/>
                </a:solidFill>
              </a:rPr>
              <a:t>σ × 0.90 × peso_factor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664208"/>
            <a:ext cx="2834640" cy="6858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2331720"/>
            <a:ext cx="2834640" cy="457200"/>
          </a:xfrm>
          <a:prstGeom prst="rect">
            <a:avLst/>
          </a:prstGeom>
          <a:solidFill>
            <a:srgbClr val="C8D8F0"/>
          </a:solidFill>
          <a:ln w="635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5E"/>
                </a:solidFill>
              </a:rPr>
              <a:t>σ × 0.90 × peso_factor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664208"/>
            <a:ext cx="2834640" cy="6858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HJM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2331720"/>
            <a:ext cx="2834640" cy="457200"/>
          </a:xfrm>
          <a:prstGeom prst="rect">
            <a:avLst/>
          </a:prstGeom>
          <a:solidFill>
            <a:srgbClr val="C8D8F0"/>
          </a:solidFill>
          <a:ln w="635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5E"/>
                </a:solidFill>
              </a:rPr>
              <a:t>σ_nodo × peso_factor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1664208"/>
            <a:ext cx="2834640" cy="6858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44584" y="2331720"/>
            <a:ext cx="2834640" cy="457200"/>
          </a:xfrm>
          <a:prstGeom prst="rect">
            <a:avLst/>
          </a:prstGeom>
          <a:solidFill>
            <a:srgbClr val="C8D8F0"/>
          </a:solidFill>
          <a:ln w="635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5E"/>
                </a:solidFill>
              </a:rPr>
              <a:t>σ_d × peso_factor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944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Jerarquía de pesos (de mayor a menor prioridad):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11612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383280"/>
            <a:ext cx="164592" cy="1005840"/>
          </a:xfrm>
          <a:prstGeom prst="rect">
            <a:avLst/>
          </a:prstGeom>
          <a:solidFill>
            <a:srgbClr val="C0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56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A"/>
                </a:solidFill>
              </a:rPr>
              <a:t>1° Override individual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438144"/>
            <a:ext cx="74066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4747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75E"/>
                </a:solidFill>
              </a:rPr>
              <a:t>pesos_individuales_override['USDCOP'] =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Máxima granularidad. Un factor específico.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62272"/>
            <a:ext cx="11612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462272"/>
            <a:ext cx="164592" cy="1005840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354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10"/>
                </a:solidFill>
              </a:rPr>
              <a:t>2° Peso de categoría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517136"/>
            <a:ext cx="74066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55371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75E"/>
                </a:solidFill>
              </a:rPr>
              <a:t>pesos_por_categoria['Divisas_Mayor_Impacto']['peso'] = 1.4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10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Aplica a todos los factores de una categoría.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41264"/>
            <a:ext cx="11612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541264"/>
            <a:ext cx="164592" cy="100584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144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E4A"/>
                </a:solidFill>
              </a:rPr>
              <a:t>3° Peso 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5596128"/>
            <a:ext cx="74066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5632704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75E"/>
                </a:solidFill>
              </a:rPr>
              <a:t>configuracion['peso_global_default'] = 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899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Fallback si el factor no está en ninguna categoría.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 Métodos de Calibración: Min-Max vs Percentil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Cómo se convierten los choques VaR en pesos de volatilidad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594360"/>
          </a:xfrm>
          <a:prstGeom prst="rect">
            <a:avLst/>
          </a:prstGeom>
          <a:solidFill>
            <a:srgbClr val="C8D8F0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375E"/>
                </a:solidFill>
              </a:rPr>
              <a:t>Fuente de datos:  Archivo Excel de resultados VaR Zeros  (hoja 'Factores_Zeros')  →  Extrae el choque máximo histórico por factor dentro de su tipo de activo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486400" cy="466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5486400" cy="50292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Método MIN-MAX 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9631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Fórmula: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peso = p_min + (choque − choque_min)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9008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       × (p_max − p_min)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3697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       ÷ (choque_max − choque_min)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8386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3075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Donde: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77639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choque   = VaR máx del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2452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p_min    = peso mínimo config  (e.g. 0.6)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7141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p_max    = peso máximo config  (e.g. 2.0)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1830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La normalización es DENTRO del tipo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6519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(Tasa Cambio, Curva, Acciones, etc.)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21208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5896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Resultado: escala lineal proporcional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70585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al choque relativo dentro del grupo.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95274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19963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Ventaja:  Intuitivo, estable, sin outliers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Limitación:  Un choque extremo comprime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69340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todos los demás hacia p_min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920240"/>
            <a:ext cx="5943600" cy="466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1920240"/>
            <a:ext cx="594360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9659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Método PERCENTIL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49631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Fórmula: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74320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pctil = rank(choque_factor) / N_factores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9008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peso  = p_min + pctil × (p_max − p_min)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23697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48386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Donde: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7307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rank(·)  = posición ordinal del choque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977639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N_factores = nº factores del mismo tipo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22452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47141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La normalización es por rango ordinal,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71830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 por magnitud absoluta del choque.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96519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2120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Resultado: distribución uniforme de pesos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4589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entre p_min y p_max.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70585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95274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Ventaja:  Robusto a outliers extremos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619963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No hay factor que 'monopolice' p_max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644652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Limitación:  Ignora magnitud del choque;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669340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USDCOP y USDBRL pueden quedar iguales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694029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si sus rangos son similares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Calibración Dinámica: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Flujo completo desde el Excel VaR hasta los pesos aplicados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0700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07008"/>
            <a:ext cx="502920" cy="5029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24358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Obtener el Excel VaR Zeros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75564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Ejecutar el proceso de VaR de Zeros del día de corte.
Archivo: Resultados_&lt;fecha&gt;_Zeros.xlsx
Hoja requerida: 'Factores_Zeros'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20700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207008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24358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2801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F9E"/>
                </a:solidFill>
              </a:rPr>
              <a:t>Extraer choques por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cd.calibrar_pesos_desde_var(path_var_excel=..., nivel='Grupo Bancolombia')
Lee columna 'Choque_Max' por factor dentro de su 'Tipo'
(Tasa Cambio / Curva / Acciones / Indicador)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20700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207008"/>
            <a:ext cx="502920" cy="50292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24358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12801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E4A"/>
                </a:solidFill>
              </a:rPr>
              <a:t>Normalizar por tipo de activo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175564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Dentro de cada grupo (e.g. 'Tasa Cambio'):
  Min-Max: peso = p_min + (ch − ch_min)/(ch_max − ch_min) × (p_max − p_min)
  Percentil: peso = p_min + rank(ch)/N × (p_max − p_min)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81304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813048"/>
            <a:ext cx="502920" cy="502920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84962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10"/>
                </a:solidFill>
              </a:rPr>
              <a:t>Mapear a clave interna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36168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El Excel usa nombres como 'USD/COP' → el JSON usa 'USDCOP'
El módulo CalibracionDinamica tiene la tabla de mapeo de 45+ factores
incluyendo nodos de curva (e.g. 'IBR 30d' → 'C_IBR')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381304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3813048"/>
            <a:ext cx="502920" cy="502920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384962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E4A"/>
                </a:solidFill>
              </a:rPr>
              <a:t>Guardar en pesos_factores_stress.json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6" y="436168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Si guardar=True, actualiza automáticamente el JSON.
Imprime diagnóstico: factor → choque → peso asignado.
La próxima ejecución de simulationRfkProspectivo() usa estos pesos.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813048"/>
            <a:ext cx="3794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6" y="3813048"/>
            <a:ext cx="5029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84962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F9E"/>
                </a:solidFill>
              </a:rPr>
              <a:t>Verificar en Simulation_statistics.xlsx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4361688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Pestaña 'Pesos_Aplicados' muestra el peso efectivo por factor.
Comparar con pestaña de estadísticas para confirmar que
el stress resultante se acerca al VaR objetivo.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Comparativa de Enfoques de Calibración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Sin pesos  /  Pesos manuales  /  Calibración dinámica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794760" cy="713232"/>
          </a:xfrm>
          <a:prstGeom prst="rect">
            <a:avLst/>
          </a:prstGeom>
          <a:solidFill>
            <a:srgbClr val="C0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3657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Sin pesos
(GBM puro)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01952"/>
            <a:ext cx="37947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993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202A"/>
                </a:solidFill>
              </a:rPr>
              <a:t>σ = std(retornos) × 0.90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496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Sin diferenciación entre factores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999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Stress ≈ 78% del VaR típicamente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502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Sub-conservador para factores volátiles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40050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4507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202A"/>
                </a:solidFill>
              </a:rPr>
              <a:t>Cuando usar: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5010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Solo como baseline de referencia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188720"/>
            <a:ext cx="3794760" cy="713232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234440"/>
            <a:ext cx="3657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Pesos manuales
(v2.7 actual)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901952"/>
            <a:ext cx="37947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993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B10"/>
                </a:solidFill>
              </a:rPr>
              <a:t>σ = std × 0.90 × peso_override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96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Ajustes ad-hoc por analista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99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BAAA2/BAAA3/COUSD: peso=1.5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02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Stress ≈ 88% del VaR (mejorado)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0050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07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B10"/>
                </a:solidFill>
              </a:rPr>
              <a:t>Cuando usar: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10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Cuando hay factores conocidos sub-calibrados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138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pero sin datos frescos del VaR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0456" y="1188720"/>
            <a:ext cx="3794760" cy="713232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1234440"/>
            <a:ext cx="3657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Calibración
dinámica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1901952"/>
            <a:ext cx="37947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1993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7E4A"/>
                </a:solidFill>
              </a:rPr>
              <a:t>σ = std × 0.90 × peso_dinamico(VaR)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2496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Peso derivado del choque VaR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2999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Actualización automática cada fecha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502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Stress ≈ 95-100% del VaR objetivo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40050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507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7E4A"/>
                </a:solidFill>
              </a:rPr>
              <a:t>Cuando usar: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010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Cada cierre de mes con VaR Zeros disponible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55138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Permite trazabilidad y auditoría completa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Implementación en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Tres líneas para calibrar y simular con pesos dinámicos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Paso 1 — Calibración dinámica de pesos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11612880" cy="14356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11384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D4D4"/>
                </a:solidFill>
              </a:rPr>
              <a:t>import ajustar_pesos_stress as aps
pesos, diagnostico = aps.calibrar_dinamicamente(
    path_var_excel = r'C:/Downloads/Resultados_30_Apr_Zeros.xlsx',
    nivel          = 'Grupo Bancolombia',
    metodo         = 'min_max',   # o 'percentil'
    guardar        = True         # actualiza el JSON automáticamente
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44952"/>
            <a:ext cx="11612880" cy="384048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9981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Paso 2 — Ajuste manual puntual (opcional)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11612880" cy="14356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83864"/>
            <a:ext cx="11384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D4D4"/>
                </a:solidFill>
              </a:rPr>
              <a:t># Si algún factor quedó sub-calibrado tras el dinámico:
aps.ajustar_peso_individual('BAAA2',   1.6)
aps.ajustar_peso_individual('CECUVR',  1.5)
aps.ajustar_categoria('Divisas_Mayor_Impacto', 1.4)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01183"/>
            <a:ext cx="11612880" cy="384048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956047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Paso 3 — Correr la simulación con los nuevos pesos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85231"/>
            <a:ext cx="11612880" cy="14356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340096"/>
            <a:ext cx="11384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D4D4"/>
                </a:solidFill>
              </a:rPr>
              <a:t>import SimulationProspectivo_JD as rfk
rfk.simulationRfkProspectivo_JD(
    fecha          = '20260430',
    nSim           = 1500,
    n_max_proyeccion = 20,
    path_var_excel = r'C:/.../Resultados_Zeros.xlsx',
    guardar        = False   # pesos ya guardados en paso 1
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09  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F0"/>
                </a:solidFill>
              </a:rPr>
              <a:t>Hoja de ruta para mejorar la calidad del stress testing prospectivo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8F0"/>
                </a:solidFill>
              </a:rPr>
              <a:t>Riesgo de Mercado | Modelos de Simulación Prospectiva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" cy="969264"/>
          </a:xfrm>
          <a:prstGeom prst="rect">
            <a:avLst/>
          </a:prstGeom>
          <a:solidFill>
            <a:srgbClr val="C0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33856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0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930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A"/>
                </a:solidFill>
              </a:rPr>
              <a:t>GBM ya no es el mejor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5506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En el torneo, GBM ocupa 3° o 4° lugar consistentemente. La distribución Normal no captura las colas pesadas ni los saltos que caracterizan a FX y RV en mercados emergentes.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22576"/>
            <a:ext cx="274320" cy="969264"/>
          </a:xfrm>
          <a:prstGeom prst="rect">
            <a:avLst/>
          </a:prstGeom>
          <a:solidFill>
            <a:srgbClr val="1E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33856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1E7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E4A"/>
                </a:solidFill>
              </a:rPr>
              <a:t>JD es el modelo ganador para FX y RV emergente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Jump-Diffusion de Merton captura la asimetría y las colas pesadas sin necesidad de ajustes ad-hoc. La calibración es completamente automática a partir del histórico de 250 días.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10712"/>
            <a:ext cx="274320" cy="969264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10712"/>
            <a:ext cx="1133856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6557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F9E"/>
                </a:solidFill>
              </a:rPr>
              <a:t>ARMA-GARCH es superior para mercados desarrollados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3133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El volatility clustering de SPY, XLF, EURUSD se modela mejor con GARCH que con saltos Poisson. Se recomienda selección automática por torneo al inicio de cada proceso de stress.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98848"/>
            <a:ext cx="274320" cy="969264"/>
          </a:xfrm>
          <a:prstGeom prst="rect">
            <a:avLst/>
          </a:prstGeom>
          <a:solidFill>
            <a:srgbClr val="E0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98848"/>
            <a:ext cx="1133856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5371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10"/>
                </a:solidFill>
              </a:rPr>
              <a:t>Calibración dinámica elimina la brecha Stress vs 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1947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Al derivar los pesos directamente del Excel VaR Zeros, cada factor recibe una volatilidad proporcional a su riesgo real. La brecha se reduce de −22% a &lt; 5% con método Min-Max.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86983"/>
            <a:ext cx="274320" cy="96926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86983"/>
            <a:ext cx="1133856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41847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Proceso mensual recomendado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07607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1° Correr VaR Zeros  →  2° Calibrar pesos (Min-Max)  →  3° Ajuste manual puntual si hay outliers  →  4° Simular con JD  →  5° Verificar en pestaña 'Pesos_Aplicados'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D8F0"/>
                </a:solidFill>
              </a:rPr>
              <a:t>Modelos de simulación prospectiva
Riesgo de Mercado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Archivos de referencia:  torneo_modelos.py  ·  RiskModels.py  ·  SimulationProspectivo_JD.py  ·  ajustar_pesos_stress.py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